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108960"/>
            <a:ext cx="2560320" cy="2560320"/>
          </a:xfrm>
          <a:prstGeom prst="ellipse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365760"/>
            <a:ext cx="1463040" cy="146304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PROJET ÉLECTRONIQUE · ESP32 · ARDUINO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Contrôle de Servomoteur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avec ESP32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2926080" y="2724912"/>
            <a:ext cx="329184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AFC8"/>
                </a:solidFill>
              </a:rPr>
              <a:t>Mouvement progressif · Contrôle de précision · Bibliothèque ESP32Servo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80A0"/>
                </a:solidFill>
              </a:rPr>
              <a:t>Fatoumata Diba  ·  Mourtalla Lo  ·  Ndeye Faty Gueye  ·  Sokhna Gueye  ·  Habib Ly  ·  Mame Fama Diagne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570"/>
                </a:solidFill>
              </a:rPr>
              <a:t>Année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45336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5087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Introduction &amp; Objectifs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9464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5328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Matériel utilisé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93592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55701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Architecture du Code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1545336"/>
            <a:ext cx="475488" cy="47548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5087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Séquence de Mouvement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2569464"/>
            <a:ext cx="475488" cy="47548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25328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Problèmes &amp; Solutions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3593592"/>
            <a:ext cx="475488" cy="47548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355701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Équipe &amp; 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Objectifs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1732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Contrôler un servomoteur avec précision via la carte ESP32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74320" cy="2743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2199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Implémenter un mouvement lent et progressif degré par degré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9067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026664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Résoudre les problèmes de compatibilité de bibliothèque Arduino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95344"/>
            <a:ext cx="274320" cy="2743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83133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Maîtriser la séquence : 0° → 90° → 100° → 90° → 0°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1261872"/>
            <a:ext cx="2926080" cy="3474720"/>
          </a:xfrm>
          <a:prstGeom prst="roundRect">
            <a:avLst>
              <a:gd name="adj" fmla="val 468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144475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0" y="1901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AABB"/>
                </a:solidFill>
              </a:rPr>
              <a:t>Microcontrôleur WiFi + Bluetooth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23317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CPU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2331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Xtensa LX6 240 MHz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275234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27523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520 KB SRAM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17296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Flash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3172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 MB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35935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GPIO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593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34 pins disponibles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401421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Signal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40142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Pin 9 (PWM)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Matériel utilisé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389888"/>
            <a:ext cx="1938528" cy="3154680"/>
          </a:xfrm>
          <a:prstGeom prst="roundRect">
            <a:avLst>
              <a:gd name="adj" fmla="val 5660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1536192"/>
            <a:ext cx="822960" cy="82296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536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48716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Carte microcontrôleur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WiFi + Bluetooth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Compatible Arduino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1389888"/>
            <a:ext cx="1938528" cy="3154680"/>
          </a:xfrm>
          <a:prstGeom prst="roundRect">
            <a:avLst>
              <a:gd name="adj" fmla="val 5660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90672" y="1536192"/>
            <a:ext cx="822960" cy="822960"/>
          </a:xfrm>
          <a:prstGeom prst="ellipse">
            <a:avLst/>
          </a:prstGeom>
          <a:solidFill>
            <a:srgbClr val="7B2FBE">
              <a:alpha val="8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536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32888" y="248716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Servomoteur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24328" y="297180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Rotation précise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0° à 180°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Signal PWM 50Hz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54296" y="1389888"/>
            <a:ext cx="1938528" cy="3154680"/>
          </a:xfrm>
          <a:prstGeom prst="roundRect">
            <a:avLst>
              <a:gd name="adj" fmla="val 5660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1536192"/>
            <a:ext cx="822960" cy="822960"/>
          </a:xfrm>
          <a:prstGeom prst="ellipse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536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296" y="248716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Câble USB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45736" y="297180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Connexion PC–ESP32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Alimentation + 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du programme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75704" y="1389888"/>
            <a:ext cx="1938528" cy="3154680"/>
          </a:xfrm>
          <a:prstGeom prst="roundRect">
            <a:avLst>
              <a:gd name="adj" fmla="val 5660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33488" y="1536192"/>
            <a:ext cx="822960" cy="82296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488" y="1536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75704" y="248716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ESP32Servo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67144" y="2971800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Bibliothèque dédiée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par Kevin Harrington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ABF"/>
                </a:solidFill>
              </a:rPr>
              <a:t>Gestionnaire Arduino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5074920" cy="3547872"/>
          </a:xfrm>
          <a:prstGeom prst="roundRect">
            <a:avLst>
              <a:gd name="adj" fmla="val 3093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5074920" cy="402336"/>
          </a:xfrm>
          <a:prstGeom prst="roundRect">
            <a:avLst>
              <a:gd name="adj" fmla="val 27273"/>
            </a:avLst>
          </a:prstGeom>
          <a:solidFill>
            <a:srgbClr val="15253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90A8"/>
                </a:solidFill>
              </a:rPr>
              <a:t>sketch_jun29a.ino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141732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141732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19072"/>
            <a:ext cx="477316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</a:t>
            </a:r>
            <a:pPr indent="0" marL="0">
              <a:buNone/>
            </a:pPr>
            <a:r>
              <a:rPr lang="en-US" sz="88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&lt;ESP32Servo.h&gt;</a:t>
            </a:r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Servo 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monServo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pPr indent="0" marL="0">
              <a:buNone/>
            </a:pPr>
            <a:r>
              <a:rPr lang="en-US" sz="880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pPr indent="0" marL="0">
              <a:buNone/>
            </a:pPr>
            <a:r>
              <a:rPr lang="en-US" sz="8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bouger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debut, int fin, int vitesse) {
</a:t>
            </a:r>
            <a:pPr indent="0" marL="0">
              <a:buNone/>
            </a:pPr>
            <a:r>
              <a:rPr lang="en-US" sz="880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(debut &lt; fin) {
</a:t>
            </a:r>
            <a:pPr indent="0" marL="0">
              <a:buNone/>
            </a:pPr>
            <a:r>
              <a:rPr lang="en-US" sz="880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pos=debut; pos&lt;=fin; pos++) {
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monServo.</a:t>
            </a:r>
            <a:pPr indent="0" marL="0">
              <a:buNone/>
            </a:pPr>
            <a:r>
              <a:rPr lang="en-US" sz="8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(vitesse);
    }
  } else {
</a:t>
            </a:r>
            <a:pPr indent="0" marL="0">
              <a:buNone/>
            </a:pPr>
            <a:r>
              <a:rPr lang="en-US" sz="880" dirty="0">
                <a:solidFill>
                  <a:srgbClr val="4A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sens inverse
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
}
</a:t>
            </a:r>
            <a:pPr indent="0" marL="0">
              <a:buNone/>
            </a:pPr>
            <a:r>
              <a:rPr lang="en-US" sz="880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pPr indent="0" marL="0">
              <a:buNone/>
            </a:pPr>
            <a:r>
              <a:rPr lang="en-US" sz="8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
</a:t>
            </a:r>
            <a:pPr indent="0" marL="0">
              <a:buNone/>
            </a:pPr>
            <a:r>
              <a:rPr lang="en-US" sz="8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bouger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90, 15);  </a:t>
            </a:r>
            <a:pPr indent="0" marL="0">
              <a:buNone/>
            </a:pPr>
            <a:r>
              <a:rPr lang="en-US" sz="8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bouger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(90,100,15);  </a:t>
            </a:r>
            <a:pPr indent="0" marL="0">
              <a:buNone/>
            </a:pPr>
            <a:r>
              <a:rPr lang="en-US" sz="8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</a:t>
            </a:r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669280" y="1261872"/>
            <a:ext cx="312724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1335024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bouger(debut, fin, vitesse)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664208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Déplace le servo degré par degré. Direction automatique selon l'ordre des paramètres.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2468880"/>
            <a:ext cx="312724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06440" y="2542032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15ms par degré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871216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Mouvement fluide et lent. Trajet 0°→90° ≈ 1,35 secondes.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3675888"/>
            <a:ext cx="312724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06440" y="3749040"/>
            <a:ext cx="2852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Boucle infinie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4078224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Cycle 0°→90°→100°→90°→0° répété indéfiniment avec pauses d'1 sec.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Séquence de Mouvement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2761488"/>
            <a:ext cx="7223760" cy="50292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560320"/>
            <a:ext cx="658368" cy="6583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560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310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DÉPART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90A8"/>
                </a:solidFill>
              </a:rPr>
              <a:t>Position initiale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26517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4A64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87752" y="2560320"/>
            <a:ext cx="658368" cy="6583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2560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4028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2F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240280" y="3310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PAUSE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3657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90A8"/>
                </a:solidFill>
              </a:rPr>
              <a:t>Attente 1 seconde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6517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4A64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52544" y="2560320"/>
            <a:ext cx="658368" cy="65836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2544" y="2560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05072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005072" y="3310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AVANCE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05072" y="3657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90A8"/>
                </a:solidFill>
              </a:rPr>
              <a:t>Extension max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10912" y="26517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4A64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08192" y="2560320"/>
            <a:ext cx="658368" cy="6583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2560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6072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2F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90°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760720" y="3310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RECUL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3657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90A8"/>
                </a:solidFill>
              </a:rPr>
              <a:t>Retour milieu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26517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4A64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863840" y="2560320"/>
            <a:ext cx="658368" cy="6583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2560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16368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0°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516368" y="3310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RETOUR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16368" y="3657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90A8"/>
                </a:solidFill>
              </a:rPr>
              <a:t>Position initiale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97280" y="4251960"/>
            <a:ext cx="6949440" cy="594360"/>
          </a:xfrm>
          <a:prstGeom prst="roundRect">
            <a:avLst>
              <a:gd name="adj" fmla="val 15385"/>
            </a:avLst>
          </a:prstGeom>
          <a:solidFill>
            <a:srgbClr val="0A1F35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425196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Vitesse : 15 ms/degre  |  Cycle complet ~7 secondes  |  Repetition infinie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886200" cy="987552"/>
          </a:xfrm>
          <a:prstGeom prst="roundRect">
            <a:avLst>
              <a:gd name="adj" fmla="val 925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356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</a:rPr>
              <a:t>✗  PROBLÈME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0078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Mouvement trop rapide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6276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86200" cy="987552"/>
          </a:xfrm>
          <a:prstGeom prst="roundRect">
            <a:avLst>
              <a:gd name="adj" fmla="val 9259"/>
            </a:avLst>
          </a:prstGeom>
          <a:solidFill>
            <a:srgbClr val="F0FDF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4356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</a:rPr>
              <a:t>✓  SOLUTION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83480" y="170078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</a:rPr>
              <a:t>Fonction bouger() : avance degré par degré avec délai 15ms entre chaque pas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3886200" cy="987552"/>
          </a:xfrm>
          <a:prstGeom prst="roundRect">
            <a:avLst>
              <a:gd name="adj" fmla="val 925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624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</a:rPr>
              <a:t>✗  PROBLÈME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Bibliothèque Servo incompatible avec ESP32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28163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846320" y="2560320"/>
            <a:ext cx="3886200" cy="987552"/>
          </a:xfrm>
          <a:prstGeom prst="roundRect">
            <a:avLst>
              <a:gd name="adj" fmla="val 9259"/>
            </a:avLst>
          </a:prstGeom>
          <a:solidFill>
            <a:srgbClr val="F0FDF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2624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</a:rPr>
              <a:t>✓  SOLUTION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288950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</a:rPr>
              <a:t>Remplacement par ESP32Servo (Kevin Harrington) via le gestionnaire de bibliothèques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3886200" cy="987552"/>
          </a:xfrm>
          <a:prstGeom prst="roundRect">
            <a:avLst>
              <a:gd name="adj" fmla="val 925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8130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</a:rPr>
              <a:t>✗  PROBLÈME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07822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Port COM8 occupé — erreur de téléversement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40050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846320" y="3749040"/>
            <a:ext cx="3886200" cy="987552"/>
          </a:xfrm>
          <a:prstGeom prst="roundRect">
            <a:avLst>
              <a:gd name="adj" fmla="val 9259"/>
            </a:avLst>
          </a:prstGeom>
          <a:solidFill>
            <a:srgbClr val="F0FDF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38130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</a:rPr>
              <a:t>✓  SOLUTION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407822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</a:rPr>
              <a:t>Fermer le Moniteur Série + maintenir le bouton BOOT lors du téléversement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840480" cy="384048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914400"/>
            <a:ext cx="2926080" cy="2926080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Équipe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33472" cy="1353312"/>
          </a:xfrm>
          <a:prstGeom prst="roundRect">
            <a:avLst>
              <a:gd name="adj" fmla="val 8784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53896" y="1554480"/>
            <a:ext cx="640080" cy="64008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5389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Fatoumata Diba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33472" cy="1353312"/>
          </a:xfrm>
          <a:prstGeom prst="roundRect">
            <a:avLst>
              <a:gd name="adj" fmla="val 8784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88536" y="1554480"/>
            <a:ext cx="640080" cy="640080"/>
          </a:xfrm>
          <a:prstGeom prst="ellipse">
            <a:avLst/>
          </a:prstGeom>
          <a:solidFill>
            <a:srgbClr val="7B2FBE">
              <a:alpha val="8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853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267712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Mourtalla Lo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33472" cy="1353312"/>
          </a:xfrm>
          <a:prstGeom prst="roundRect">
            <a:avLst>
              <a:gd name="adj" fmla="val 8784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23176" y="1554480"/>
            <a:ext cx="640080" cy="640080"/>
          </a:xfrm>
          <a:prstGeom prst="ellipse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317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2267712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Ndeye Faty Gueye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33472" cy="1353312"/>
          </a:xfrm>
          <a:prstGeom prst="roundRect">
            <a:avLst>
              <a:gd name="adj" fmla="val 8784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53896" y="3154680"/>
            <a:ext cx="640080" cy="6400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53896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" y="3867912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Sokhna Gueye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633472" cy="1353312"/>
          </a:xfrm>
          <a:prstGeom prst="roundRect">
            <a:avLst>
              <a:gd name="adj" fmla="val 8784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88536" y="3154680"/>
            <a:ext cx="640080" cy="640080"/>
          </a:xfrm>
          <a:prstGeom prst="ellipse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88536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383280" y="3867912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Habib 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633472" cy="1353312"/>
          </a:xfrm>
          <a:prstGeom prst="roundRect">
            <a:avLst>
              <a:gd name="adj" fmla="val 8784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23176" y="3154680"/>
            <a:ext cx="640080" cy="64008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23176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17920" y="3867912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Mame Fama Diagne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548640"/>
            <a:ext cx="3840480" cy="38404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2926080" cy="2926080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avons accompli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103120" y="230428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2240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8D8"/>
                </a:solidFill>
              </a:rPr>
              <a:t>Contrôle précis d'un servomoteur via la carte ESP32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289864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834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8D8"/>
                </a:solidFill>
              </a:rPr>
              <a:t>Mouvement fluide et progressif à 15 ms par degré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349300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429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8D8"/>
                </a:solidFill>
              </a:rPr>
              <a:t>Résolution des erreurs de compatibilité de bibliothèque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408736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8D8"/>
                </a:solidFill>
              </a:rPr>
              <a:t>Maîtrise complète du cycle 0° → 90° → 100° → 90° → 0°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6080" y="4617720"/>
            <a:ext cx="32918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80A0"/>
                </a:solidFill>
              </a:rPr>
              <a:t>Merci pour votre attention 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Contrôle de Servomoteur avec ESP32</dc:title>
  <dc:subject>PptxGenJS Presentation</dc:subject>
  <dc:creator>Groupe ESP32</dc:creator>
  <cp:lastModifiedBy>Groupe ESP32</cp:lastModifiedBy>
  <cp:revision>1</cp:revision>
  <dcterms:created xsi:type="dcterms:W3CDTF">2026-06-29T13:55:21Z</dcterms:created>
  <dcterms:modified xsi:type="dcterms:W3CDTF">2026-06-29T13:55:21Z</dcterms:modified>
</cp:coreProperties>
</file>